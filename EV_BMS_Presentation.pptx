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54864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54864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132588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32588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1325880"/>
            <a:ext cx="54864" cy="54864"/>
          </a:xfrm>
          <a:prstGeom prst="ellipse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ACTS, PUNE  |  PGCP-DESD PROJECT REPORT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EV Battery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Safety Protections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STM32F407 Microcontrollers  •  CAN Bus Communication  •  ESP32 IoT Dashboard (MQTT)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89204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231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10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349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Raja A.K.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260240130011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5349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Rajendra Kulkarni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260240130031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5349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Nikita Mandar Bhawalkar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260240130007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5897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Rituja Sunil Bedse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260240130037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34840" y="5897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Abhay Uddhavrao Akhade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260240130001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69680" y="5010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Arvind Kumar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 Battery Safety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EV adoption accelerates, the battery pack becomes the most critical and expensive component of the vehicle. Abnormal conditions — overheating, excessive current, over/under-voltage, or smoke — can degrade battery life and trigger thermal runaway or fire. Conventional monitoring systems often lack real-time fault detection, reliable inter-controller communication, and remote visibility.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760720" cy="2514600"/>
          </a:xfrm>
          <a:prstGeom prst="roundRect">
            <a:avLst>
              <a:gd name="adj" fmla="val 2182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41148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battery monitoring systems often lack real-time fault detection, reliable communication between embedded controllers, and remote monitoring — increasing risk to battery life and vehicle safety.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14630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76288" y="1664208"/>
            <a:ext cx="310896" cy="310896"/>
          </a:xfrm>
          <a:prstGeom prst="ellipse">
            <a:avLst/>
          </a:prstGeom>
          <a:solidFill>
            <a:srgbClr val="FBE4DA"/>
          </a:solidFill>
          <a:ln/>
        </p:spPr>
      </p:sp>
      <p:pic>
        <p:nvPicPr>
          <p:cNvPr id="10" name="Image 0" descr="alert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0296" y="1728216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76288" y="20665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76288" y="2359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runaway risk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372600" y="14630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573768" y="1664208"/>
            <a:ext cx="310896" cy="310896"/>
          </a:xfrm>
          <a:prstGeom prst="ellipse">
            <a:avLst/>
          </a:prstGeom>
          <a:solidFill>
            <a:srgbClr val="FBE4DA"/>
          </a:solidFill>
          <a:ln/>
        </p:spPr>
      </p:sp>
      <p:pic>
        <p:nvPicPr>
          <p:cNvPr id="15" name="Image 1" descr="alert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76" y="1728216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573768" y="20665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Over-current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9573768" y="235915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battery life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675120" y="288036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876288" y="3081528"/>
            <a:ext cx="310896" cy="310896"/>
          </a:xfrm>
          <a:prstGeom prst="ellipse">
            <a:avLst/>
          </a:prstGeom>
          <a:solidFill>
            <a:srgbClr val="FBE4DA"/>
          </a:solidFill>
          <a:ln/>
        </p:spPr>
      </p:sp>
      <p:pic>
        <p:nvPicPr>
          <p:cNvPr id="20" name="Image 2" descr="alert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3145536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76288" y="34838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/ Under-voltage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876288" y="37764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degradation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372600" y="288036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573768" y="3081528"/>
            <a:ext cx="310896" cy="310896"/>
          </a:xfrm>
          <a:prstGeom prst="ellipse">
            <a:avLst/>
          </a:prstGeom>
          <a:solidFill>
            <a:srgbClr val="FBE4DA"/>
          </a:solidFill>
          <a:ln/>
        </p:spPr>
      </p:sp>
      <p:pic>
        <p:nvPicPr>
          <p:cNvPr id="25" name="Image 3" descr="alert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76" y="3145536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73768" y="348386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generation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573768" y="377647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hazard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675120" y="434340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continuous monitoring enables early detection of unsafe conditions, prevents costly failures, and — with IoT integration — supports predictive maintenance from anywhere.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Aim, Objectives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231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727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Real-Time EV Battery Monitoring and Safety Protection System using dual STM32F407 microcontrollers, CAN communication, and an MQTT-based IoT platform.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809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battery voltage &amp; current (INA219)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980944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9809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64224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battery temperature (NTC thermistor)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478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7824" y="3493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smoke concentration (MQ135)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54787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35478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64224" y="34930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inter-controller CAN communication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14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7824" y="40599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fault detection for abnormal conditions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4114800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114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64224" y="40599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safety control — cooling fan &amp; buzzer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817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681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7824" y="46268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data to ESP32 via UART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35040" y="4681728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46817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64224" y="462686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battery data to MQTT IoT dashboard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E4F4F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46811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parameter monitoring, real-time fault detection, and safety indication via dual STM32F407 nodes over CAN, with IoT visualization.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control, cell balancing, and advanced SOH prediction (future work).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STM32F407 nodes over CAN bus, bridged to an MQTT IoT dashboard via ESP32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2315C"/>
          </a:solidFill>
          <a:ln/>
        </p:spPr>
      </p:sp>
      <p:pic>
        <p:nvPicPr>
          <p:cNvPr id="6" name="Image 0" descr="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77440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3383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(I²C)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(ADC)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(ADC)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40280" y="299466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331720" y="214884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00B4D8"/>
          </a:solidFill>
          <a:ln/>
        </p:spPr>
      </p:sp>
      <p:pic>
        <p:nvPicPr>
          <p:cNvPr id="11" name="Image 1" descr="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377440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231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423160" y="3383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Acquisition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(validate, filter)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069080" y="299466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4160520" y="214884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2315C"/>
          </a:solidFill>
          <a:ln/>
        </p:spPr>
      </p:sp>
      <p:pic>
        <p:nvPicPr>
          <p:cNvPr id="16" name="Image 2" descr="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377440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519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251960" y="3383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SN65HVD230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Transceivers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(every 100 ms)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897880" y="299466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5989320" y="214884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00B4D8"/>
          </a:solidFill>
          <a:ln/>
        </p:spPr>
      </p:sp>
      <p:pic>
        <p:nvPicPr>
          <p:cNvPr id="21" name="Image 3" descr="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377440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807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080760" y="3383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Node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(SOC, faults)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726680" y="299466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7818120" y="214884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2315C"/>
          </a:solidFill>
          <a:ln/>
        </p:spPr>
      </p:sp>
      <p:pic>
        <p:nvPicPr>
          <p:cNvPr id="26" name="Image 4" descr="wif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2377440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09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909560" y="3383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→ Wi-Fi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Publish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9555480" y="2994660"/>
            <a:ext cx="109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0" name="Shape 23"/>
          <p:cNvSpPr/>
          <p:nvPr/>
        </p:nvSpPr>
        <p:spPr>
          <a:xfrm>
            <a:off x="9646920" y="2148840"/>
            <a:ext cx="1737360" cy="2331720"/>
          </a:xfrm>
          <a:prstGeom prst="roundRect">
            <a:avLst>
              <a:gd name="adj" fmla="val 4211"/>
            </a:avLst>
          </a:prstGeom>
          <a:solidFill>
            <a:srgbClr val="12315C"/>
          </a:solidFill>
          <a:ln/>
        </p:spPr>
      </p:sp>
      <p:pic>
        <p:nvPicPr>
          <p:cNvPr id="31" name="Image 5" descr="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9568" y="2377440"/>
            <a:ext cx="512064" cy="5120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383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9738360" y="338328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Broker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Dashboard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02920" y="4800600"/>
            <a:ext cx="11201400" cy="1417320"/>
          </a:xfrm>
          <a:prstGeom prst="roundRect">
            <a:avLst>
              <a:gd name="adj" fmla="val 3871"/>
            </a:avLst>
          </a:prstGeom>
          <a:solidFill>
            <a:srgbClr val="12315C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4956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Acquisition Node (STM1)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777240" y="52578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INA219, NTC &amp; MQ135; validates &amp; filters data; packs CAN frames every 100 ms.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263640" y="49560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Control Node (STM2)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263640" y="525780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power &amp; SOC; detects faults; drives fan/buzzer; forwards data via UART.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Hardware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pic>
        <p:nvPicPr>
          <p:cNvPr id="6" name="Image 0" descr="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099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STM32F407VGT6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Cortex-M4 @ 168 MHz, 1 MB Flash, dual-node controller for acquisition &amp; control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50876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pic>
        <p:nvPicPr>
          <p:cNvPr id="11" name="Image 1" descr="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8745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7099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2423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Wi-Fi/BLE module — bridges UART data to the MQTT broker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50876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1737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pic>
        <p:nvPicPr>
          <p:cNvPr id="16" name="Image 2" descr="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745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70992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24231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voltage &amp; current sensor; 12-bit ADC, up to 26 V bus voltage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47472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03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pic>
        <p:nvPicPr>
          <p:cNvPr id="21" name="Image 3" descr="thermome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4048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6758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NTC Thermistor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389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Voltage-divider temperature sensing for overheat detection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51960" y="347472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3703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pic>
        <p:nvPicPr>
          <p:cNvPr id="26" name="Image 4" descr="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84048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6758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Gas Sensor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80560" y="4389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smoke/gas detection for early fire-risk warning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3474720"/>
            <a:ext cx="347472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D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83880" y="3703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pic>
        <p:nvPicPr>
          <p:cNvPr id="31" name="Image 5" descr="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84048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67588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SN65HVD230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83880" y="4389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V CAN transceiver linking STM1 and STM2 over CANH/CANL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8216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68249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STM1 ↔ INA219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1682496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voltage/current read-out from the sensor to the acquisition node.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898648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85292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STM1 ↔ STM2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2852928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noise-immune automotive protocol; frames sent every 100 ms.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690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4023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STM2 ↔ ESP32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4023360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two-wire serial hand-off of processed battery data &amp; fault status.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65776"/>
            <a:ext cx="1088136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39512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3951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/ Wi-Fi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0" y="519379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↔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5193792"/>
            <a:ext cx="5623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publish-subscribe protocol for real-time cloud visualization.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 Detection &amp; Safety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STM2 continuously evaluates battery health and triggers protective actions in real 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1207008"/>
          </a:xfrm>
          <a:prstGeom prst="roundRect">
            <a:avLst>
              <a:gd name="adj" fmla="val 5303"/>
            </a:avLst>
          </a:prstGeom>
          <a:solidFill>
            <a:srgbClr val="12315C"/>
          </a:solidFill>
          <a:ln/>
        </p:spPr>
      </p:sp>
      <p:pic>
        <p:nvPicPr>
          <p:cNvPr id="6" name="Image 0" descr="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9568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/ Over-Voltage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" y="2578608"/>
            <a:ext cx="3063240" cy="0"/>
          </a:xfrm>
          <a:prstGeom prst="line">
            <a:avLst/>
          </a:prstGeom>
          <a:noFill/>
          <a:ln w="12700">
            <a:solidFill>
              <a:srgbClr val="2C48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&amp; fault flag raised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1828800"/>
            <a:ext cx="3474720" cy="1207008"/>
          </a:xfrm>
          <a:prstGeom prst="roundRect">
            <a:avLst>
              <a:gd name="adj" fmla="val 5303"/>
            </a:avLst>
          </a:prstGeom>
          <a:solidFill>
            <a:srgbClr val="12315C"/>
          </a:solidFill>
          <a:ln/>
        </p:spPr>
      </p:sp>
      <p:pic>
        <p:nvPicPr>
          <p:cNvPr id="11" name="Image 1" descr="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0299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19568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Over-Current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453128" y="2578608"/>
            <a:ext cx="3063240" cy="0"/>
          </a:xfrm>
          <a:prstGeom prst="line">
            <a:avLst/>
          </a:prstGeom>
          <a:noFill/>
          <a:ln w="12700">
            <a:solidFill>
              <a:srgbClr val="2C487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53128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activated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1828800"/>
            <a:ext cx="3474720" cy="1207008"/>
          </a:xfrm>
          <a:prstGeom prst="roundRect">
            <a:avLst>
              <a:gd name="adj" fmla="val 5303"/>
            </a:avLst>
          </a:prstGeom>
          <a:solidFill>
            <a:srgbClr val="12315C"/>
          </a:solidFill>
          <a:ln/>
        </p:spPr>
      </p:sp>
      <p:pic>
        <p:nvPicPr>
          <p:cNvPr id="16" name="Image 2" descr="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0299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19568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56448" y="2578608"/>
            <a:ext cx="3063240" cy="0"/>
          </a:xfrm>
          <a:prstGeom prst="line">
            <a:avLst/>
          </a:prstGeom>
          <a:noFill/>
          <a:ln w="12700">
            <a:solidFill>
              <a:srgbClr val="2C487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156448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fan switched ON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246120"/>
            <a:ext cx="3474720" cy="1207008"/>
          </a:xfrm>
          <a:prstGeom prst="roundRect">
            <a:avLst>
              <a:gd name="adj" fmla="val 5303"/>
            </a:avLst>
          </a:prstGeom>
          <a:solidFill>
            <a:srgbClr val="12315C"/>
          </a:solidFill>
          <a:ln/>
        </p:spPr>
      </p:sp>
      <p:pic>
        <p:nvPicPr>
          <p:cNvPr id="21" name="Image 3" descr="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4472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3741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Detected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49808" y="3995928"/>
            <a:ext cx="3063240" cy="0"/>
          </a:xfrm>
          <a:prstGeom prst="line">
            <a:avLst/>
          </a:prstGeom>
          <a:noFill/>
          <a:ln w="12700">
            <a:solidFill>
              <a:srgbClr val="2C487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49808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buzzer alert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51960" y="3246120"/>
            <a:ext cx="3474720" cy="1207008"/>
          </a:xfrm>
          <a:prstGeom prst="roundRect">
            <a:avLst>
              <a:gd name="adj" fmla="val 5303"/>
            </a:avLst>
          </a:prstGeom>
          <a:solidFill>
            <a:srgbClr val="12315C"/>
          </a:solidFill>
          <a:ln/>
        </p:spPr>
      </p:sp>
      <p:pic>
        <p:nvPicPr>
          <p:cNvPr id="26" name="Image 4" descr="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44728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37760" y="33741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Comm. Failure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4453128" y="3995928"/>
            <a:ext cx="3063240" cy="0"/>
          </a:xfrm>
          <a:prstGeom prst="line">
            <a:avLst/>
          </a:prstGeom>
          <a:noFill/>
          <a:ln w="12700">
            <a:solidFill>
              <a:srgbClr val="2C487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453128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fault flagged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955280" y="3246120"/>
            <a:ext cx="3474720" cy="1207008"/>
          </a:xfrm>
          <a:prstGeom prst="roundRect">
            <a:avLst>
              <a:gd name="adj" fmla="val 5303"/>
            </a:avLst>
          </a:prstGeom>
          <a:solidFill>
            <a:srgbClr val="12315C"/>
          </a:solidFill>
          <a:ln/>
        </p:spPr>
      </p:sp>
      <p:pic>
        <p:nvPicPr>
          <p:cNvPr id="31" name="Image 5" descr="ale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3447288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41080" y="337413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Fault</a:t>
            </a:r>
            <a:endParaRPr lang="en-US" sz="1250" dirty="0"/>
          </a:p>
        </p:txBody>
      </p:sp>
      <p:sp>
        <p:nvSpPr>
          <p:cNvPr id="33" name="Shape 25"/>
          <p:cNvSpPr/>
          <p:nvPr/>
        </p:nvSpPr>
        <p:spPr>
          <a:xfrm>
            <a:off x="8156448" y="3995928"/>
            <a:ext cx="3063240" cy="0"/>
          </a:xfrm>
          <a:prstGeom prst="line">
            <a:avLst/>
          </a:prstGeom>
          <a:noFill/>
          <a:ln w="12700">
            <a:solidFill>
              <a:srgbClr val="2C4870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8156448" y="4069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invalidated &amp; logged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548640" y="4800600"/>
            <a:ext cx="11201400" cy="1051560"/>
          </a:xfrm>
          <a:prstGeom prst="roundRect">
            <a:avLst>
              <a:gd name="adj" fmla="val 5217"/>
            </a:avLst>
          </a:prstGeom>
          <a:solidFill>
            <a:srgbClr val="12315C"/>
          </a:solidFill>
          <a:ln/>
        </p:spPr>
      </p:sp>
      <p:pic>
        <p:nvPicPr>
          <p:cNvPr id="36" name="Image 6" descr="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074920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49377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safety handling.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fault-priority mechanism ensures the most critical condition is handled first, and temperature hysteresis prevents frequent fan ON/OFF switching near the threshold.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9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Implementation &amp; Dev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76479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ADC/I²C/CAN → read &amp; validate sensors → filter noise → pack &amp; send CAN frame (100 ms)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81635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CAN/UART → receive frame → compute Power/SOC/Status → detect faults → drive fan &amp; buzzer → send to ESP32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3867912"/>
            <a:ext cx="4343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UART/Wi-Fi → receive data → connect MQTT broker → publish topics → dashboard auto-updates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50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1952244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18379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STM32CubeIDE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86600" y="213055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&amp; debugging for STM1/STM2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2542032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271119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25968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86600" y="28895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task scheduling for real-time ops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3300984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3470148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7086600" y="335584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086600" y="36484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— UART receive &amp; MQTT publish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059936"/>
            <a:ext cx="50749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D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37960" y="422910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41148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Dashboard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86600" y="44074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visualization of voltage, SOC, faults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E4F4FA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285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OPTIMIZATION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555955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validation &amp; averaging  •  100 ms periodic CAN transmission  •  Fault-priority handling  •  Temperature hysteresis for fan control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hardware module, communication link, and fault scenario was tested individually before full system integration.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474720" cy="4114800"/>
          </a:xfrm>
          <a:prstGeom prst="roundRect">
            <a:avLst>
              <a:gd name="adj" fmla="val 1842"/>
            </a:avLst>
          </a:prstGeom>
          <a:solidFill>
            <a:srgbClr val="0B1F3A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116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4672" y="274320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243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STM1 — sensor acquisition &amp; CAN TX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804672" y="35204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4015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STM2 — CAN RX &amp; fault detection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04672" y="42976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417880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INA219, NTC, MQ135 readings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04672" y="50749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9560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&amp; buzzer driver circuits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251960" y="1783080"/>
            <a:ext cx="3474720" cy="4114800"/>
          </a:xfrm>
          <a:prstGeom prst="roundRect">
            <a:avLst>
              <a:gd name="adj" fmla="val 1842"/>
            </a:avLst>
          </a:prstGeom>
          <a:solidFill>
            <a:srgbClr val="0B1F3A"/>
          </a:solidFill>
          <a:ln/>
        </p:spPr>
      </p:sp>
      <p:pic>
        <p:nvPicPr>
          <p:cNvPr id="17" name="Image 1" descr="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01168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07992" y="274320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26243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Bus: STM1 ↔ STM2 — verified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4507992" y="35204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34015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UART: STM2 ↔ ESP32 — verified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4507992" y="42976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0"/>
          <p:cNvSpPr/>
          <p:nvPr/>
        </p:nvSpPr>
        <p:spPr>
          <a:xfrm>
            <a:off x="4754880" y="417880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MQTT: ESP32 ↔ Dashboard — verified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4507992" y="50749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2"/>
          <p:cNvSpPr/>
          <p:nvPr/>
        </p:nvSpPr>
        <p:spPr>
          <a:xfrm>
            <a:off x="4754880" y="49560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I²C: STM1 ↔ INA219 — verified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7955280" y="1783080"/>
            <a:ext cx="3474720" cy="4114800"/>
          </a:xfrm>
          <a:prstGeom prst="roundRect">
            <a:avLst>
              <a:gd name="adj" fmla="val 1842"/>
            </a:avLst>
          </a:prstGeom>
          <a:solidFill>
            <a:srgbClr val="0B1F3A"/>
          </a:solidFill>
          <a:ln/>
        </p:spPr>
      </p:sp>
      <p:pic>
        <p:nvPicPr>
          <p:cNvPr id="28" name="Image 2" descr="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011680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7325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Scenarios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8211312" y="274320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1" name="Text 26"/>
          <p:cNvSpPr/>
          <p:nvPr/>
        </p:nvSpPr>
        <p:spPr>
          <a:xfrm>
            <a:off x="8458200" y="26243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Under/Over-voltage — warning raised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8211312" y="352044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28"/>
          <p:cNvSpPr/>
          <p:nvPr/>
        </p:nvSpPr>
        <p:spPr>
          <a:xfrm>
            <a:off x="8458200" y="340156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Over-current — buzzer activated</a:t>
            </a:r>
            <a:endParaRPr lang="en-US" sz="1080" dirty="0"/>
          </a:p>
        </p:txBody>
      </p:sp>
      <p:sp>
        <p:nvSpPr>
          <p:cNvPr id="34" name="Shape 29"/>
          <p:cNvSpPr/>
          <p:nvPr/>
        </p:nvSpPr>
        <p:spPr>
          <a:xfrm>
            <a:off x="8211312" y="429768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5" name="Text 30"/>
          <p:cNvSpPr/>
          <p:nvPr/>
        </p:nvSpPr>
        <p:spPr>
          <a:xfrm>
            <a:off x="8458200" y="417880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temperature — fan activated</a:t>
            </a:r>
            <a:endParaRPr lang="en-US" sz="1080" dirty="0"/>
          </a:p>
        </p:txBody>
      </p:sp>
      <p:sp>
        <p:nvSpPr>
          <p:cNvPr id="36" name="Shape 31"/>
          <p:cNvSpPr/>
          <p:nvPr/>
        </p:nvSpPr>
        <p:spPr>
          <a:xfrm>
            <a:off x="8211312" y="5074920"/>
            <a:ext cx="128016" cy="12801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7" name="Text 32"/>
          <p:cNvSpPr/>
          <p:nvPr/>
        </p:nvSpPr>
        <p:spPr>
          <a:xfrm>
            <a:off x="8458200" y="49560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/ CAN failure — flagged</a:t>
            </a:r>
            <a:endParaRPr lang="en-US" sz="1080" dirty="0"/>
          </a:p>
        </p:txBody>
      </p:sp>
      <p:sp>
        <p:nvSpPr>
          <p:cNvPr id="38" name="Text 33"/>
          <p:cNvSpPr/>
          <p:nvPr/>
        </p:nvSpPr>
        <p:spPr>
          <a:xfrm>
            <a:off x="457200" y="6519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 Battery Management System with Safety Protections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1554480"/>
          </a:xfrm>
          <a:prstGeom prst="roundRect">
            <a:avLst>
              <a:gd name="adj" fmla="val 4118"/>
            </a:avLst>
          </a:prstGeom>
          <a:solidFill>
            <a:srgbClr val="1231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241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Real-Time EV Battery Monitoring and Safety Protection System was successfully designed and implemented using dual STM32F407 controllers, CAN communication, and an MQTT-based IoT platform — reliably detecting abnormal conditions and enabling remote monitoring. This modular, scalable architecture provides a strong foundation for future Battery Management System (BMS) development.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7216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balancing for improved battery life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3749040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37216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82512" y="3703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Health (SOH) estimation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885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42702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 Counting for accurate SOC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4315968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42885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42702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 for emergency tracking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82896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554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8371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instant notifications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4882896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85546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82512" y="48371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analytics &amp; ML-based fault prediction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6080760"/>
            <a:ext cx="11109960" cy="0"/>
          </a:xfrm>
          <a:prstGeom prst="line">
            <a:avLst/>
          </a:prstGeom>
          <a:noFill/>
          <a:ln w="12700">
            <a:solidFill>
              <a:srgbClr val="2C48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19963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0" y="624535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C-DAC ACTS, Pune  |  PGCP-DESD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2026-08-07T05:02:57Z</dcterms:created>
  <dcterms:modified xsi:type="dcterms:W3CDTF">2026-08-07T05:02:57Z</dcterms:modified>
</cp:coreProperties>
</file>